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600650" cy="43200638"/>
  <p:notesSz cx="9866313" cy="14295438"/>
  <p:defaultTextStyle>
    <a:defPPr>
      <a:defRPr lang="en-US"/>
    </a:defPPr>
    <a:lvl1pPr algn="l" defTabSz="4450352" rtl="0" fontAlgn="base">
      <a:spcBef>
        <a:spcPct val="0"/>
      </a:spcBef>
      <a:spcAft>
        <a:spcPct val="0"/>
      </a:spcAft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1pPr>
    <a:lvl2pPr marL="2224286" indent="-1711810" algn="l" defTabSz="4450352" rtl="0" fontAlgn="base">
      <a:spcBef>
        <a:spcPct val="0"/>
      </a:spcBef>
      <a:spcAft>
        <a:spcPct val="0"/>
      </a:spcAft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2pPr>
    <a:lvl3pPr marL="4450352" indent="-3425401" algn="l" defTabSz="4450352" rtl="0" fontAlgn="base">
      <a:spcBef>
        <a:spcPct val="0"/>
      </a:spcBef>
      <a:spcAft>
        <a:spcPct val="0"/>
      </a:spcAft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3pPr>
    <a:lvl4pPr marL="6676417" indent="-5138990" algn="l" defTabSz="4450352" rtl="0" fontAlgn="base">
      <a:spcBef>
        <a:spcPct val="0"/>
      </a:spcBef>
      <a:spcAft>
        <a:spcPct val="0"/>
      </a:spcAft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4pPr>
    <a:lvl5pPr marL="8900703" indent="-6850801" algn="l" defTabSz="4450352" rtl="0" fontAlgn="base">
      <a:spcBef>
        <a:spcPct val="0"/>
      </a:spcBef>
      <a:spcAft>
        <a:spcPct val="0"/>
      </a:spcAft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5pPr>
    <a:lvl6pPr marL="2562377" algn="l" defTabSz="1024951" rtl="0" eaLnBrk="1" latinLnBrk="0" hangingPunct="1"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6pPr>
    <a:lvl7pPr marL="3074853" algn="l" defTabSz="1024951" rtl="0" eaLnBrk="1" latinLnBrk="0" hangingPunct="1"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7pPr>
    <a:lvl8pPr marL="3587328" algn="l" defTabSz="1024951" rtl="0" eaLnBrk="1" latinLnBrk="0" hangingPunct="1"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8pPr>
    <a:lvl9pPr marL="4099804" algn="l" defTabSz="1024951" rtl="0" eaLnBrk="1" latinLnBrk="0" hangingPunct="1">
      <a:defRPr sz="8743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52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FCB7C"/>
    <a:srgbClr val="DFDC0E"/>
    <a:srgbClr val="E6AA34"/>
    <a:srgbClr val="93D050"/>
    <a:srgbClr val="2D53D2"/>
    <a:srgbClr val="FD2919"/>
    <a:srgbClr val="FFF4F1"/>
    <a:srgbClr val="CFCB0F"/>
    <a:srgbClr val="BBB6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28" autoAdjust="0"/>
  </p:normalViewPr>
  <p:slideViewPr>
    <p:cSldViewPr snapToObjects="1">
      <p:cViewPr varScale="1">
        <p:scale>
          <a:sx n="14" d="100"/>
          <a:sy n="14" d="100"/>
        </p:scale>
        <p:origin x="2610" y="180"/>
      </p:cViewPr>
      <p:guideLst>
        <p:guide orient="horz" pos="13607"/>
        <p:guide pos="52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701" cy="715749"/>
          </a:xfrm>
          <a:prstGeom prst="rect">
            <a:avLst/>
          </a:prstGeom>
        </p:spPr>
        <p:txBody>
          <a:bodyPr vert="horz" lIns="135531" tIns="67766" rIns="135531" bIns="67766" rtlCol="0"/>
          <a:lstStyle>
            <a:lvl1pPr algn="l">
              <a:defRPr sz="1700"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88377" y="0"/>
            <a:ext cx="4275701" cy="715749"/>
          </a:xfrm>
          <a:prstGeom prst="rect">
            <a:avLst/>
          </a:prstGeom>
        </p:spPr>
        <p:txBody>
          <a:bodyPr vert="horz" lIns="135531" tIns="67766" rIns="135531" bIns="67766" rtlCol="0"/>
          <a:lstStyle>
            <a:lvl1pPr algn="r">
              <a:defRPr sz="1700"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fld id="{D074B4A7-6B5E-444C-92A2-02F231202E0F}" type="datetimeFigureOut">
              <a:rPr lang="en-US"/>
              <a:pPr>
                <a:defRPr/>
              </a:pPr>
              <a:t>6/24/2022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577247"/>
            <a:ext cx="4275701" cy="715749"/>
          </a:xfrm>
          <a:prstGeom prst="rect">
            <a:avLst/>
          </a:prstGeom>
        </p:spPr>
        <p:txBody>
          <a:bodyPr vert="horz" lIns="135531" tIns="67766" rIns="135531" bIns="67766" rtlCol="0" anchor="b"/>
          <a:lstStyle>
            <a:lvl1pPr algn="l">
              <a:defRPr sz="1700"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88377" y="13577247"/>
            <a:ext cx="4275701" cy="715749"/>
          </a:xfrm>
          <a:prstGeom prst="rect">
            <a:avLst/>
          </a:prstGeom>
        </p:spPr>
        <p:txBody>
          <a:bodyPr vert="horz" lIns="135531" tIns="67766" rIns="135531" bIns="67766" rtlCol="0" anchor="b"/>
          <a:lstStyle>
            <a:lvl1pPr algn="r">
              <a:defRPr sz="1700"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fld id="{46A0D713-6651-4DDC-A116-7DC9D8E418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20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4384" cy="715458"/>
          </a:xfrm>
          <a:prstGeom prst="rect">
            <a:avLst/>
          </a:prstGeom>
        </p:spPr>
        <p:txBody>
          <a:bodyPr vert="horz" lIns="133109" tIns="66555" rIns="133109" bIns="66555" rtlCol="0"/>
          <a:lstStyle>
            <a:lvl1pPr algn="l">
              <a:defRPr sz="17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9580" y="0"/>
            <a:ext cx="4274384" cy="715458"/>
          </a:xfrm>
          <a:prstGeom prst="rect">
            <a:avLst/>
          </a:prstGeom>
        </p:spPr>
        <p:txBody>
          <a:bodyPr vert="horz" lIns="133109" tIns="66555" rIns="133109" bIns="66555" rtlCol="0"/>
          <a:lstStyle>
            <a:lvl1pPr algn="r">
              <a:defRPr sz="1700"/>
            </a:lvl1pPr>
          </a:lstStyle>
          <a:p>
            <a:fld id="{FC1E75DD-CBBD-45C7-8EAC-3251DEC07F51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33713" y="1071563"/>
            <a:ext cx="3798887" cy="5360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109" tIns="66555" rIns="133109" bIns="6655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397" y="6791135"/>
            <a:ext cx="7893520" cy="6432261"/>
          </a:xfrm>
          <a:prstGeom prst="rect">
            <a:avLst/>
          </a:prstGeom>
        </p:spPr>
        <p:txBody>
          <a:bodyPr vert="horz" lIns="133109" tIns="66555" rIns="133109" bIns="6655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7695"/>
            <a:ext cx="4274384" cy="715458"/>
          </a:xfrm>
          <a:prstGeom prst="rect">
            <a:avLst/>
          </a:prstGeom>
        </p:spPr>
        <p:txBody>
          <a:bodyPr vert="horz" lIns="133109" tIns="66555" rIns="133109" bIns="66555" rtlCol="0" anchor="b"/>
          <a:lstStyle>
            <a:lvl1pPr algn="l">
              <a:defRPr sz="17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9580" y="13577695"/>
            <a:ext cx="4274384" cy="715458"/>
          </a:xfrm>
          <a:prstGeom prst="rect">
            <a:avLst/>
          </a:prstGeom>
        </p:spPr>
        <p:txBody>
          <a:bodyPr vert="horz" lIns="133109" tIns="66555" rIns="133109" bIns="66555" rtlCol="0" anchor="b"/>
          <a:lstStyle>
            <a:lvl1pPr algn="r">
              <a:defRPr sz="1700"/>
            </a:lvl1pPr>
          </a:lstStyle>
          <a:p>
            <a:fld id="{E83F00E9-9ED6-4C80-99E0-0003E346DA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9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1pPr>
    <a:lvl2pPr marL="512475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2pPr>
    <a:lvl3pPr marL="1024951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3pPr>
    <a:lvl4pPr marL="1537426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4pPr>
    <a:lvl5pPr marL="2049902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5pPr>
    <a:lvl6pPr marL="2562377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6pPr>
    <a:lvl7pPr marL="3074853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7pPr>
    <a:lvl8pPr marL="3587328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8pPr>
    <a:lvl9pPr marL="4099804" algn="l" defTabSz="1024951" rtl="0" eaLnBrk="1" latinLnBrk="1" hangingPunct="1">
      <a:defRPr sz="13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033713" y="1071563"/>
            <a:ext cx="3798887" cy="5360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F00E9-9ED6-4C80-99E0-0003E346DAC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8207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049" y="13420203"/>
            <a:ext cx="26010553" cy="92601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90098" y="24480362"/>
            <a:ext cx="21420455" cy="110401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76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52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2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05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382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458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535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117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B8676-4B6E-4952-944F-D32B01C97426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7CD2C-B953-4006-8CC1-5AA8B9C539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A923B-F034-4BDA-9F22-5FD499B32BE8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CF7DC-3724-4E87-872A-B346854E83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241" y="27760413"/>
            <a:ext cx="26010553" cy="8580127"/>
          </a:xfrm>
        </p:spPr>
        <p:txBody>
          <a:bodyPr anchor="t"/>
          <a:lstStyle>
            <a:lvl1pPr algn="l">
              <a:defRPr sz="181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7241" y="18310278"/>
            <a:ext cx="26010553" cy="9450136"/>
          </a:xfrm>
        </p:spPr>
        <p:txBody>
          <a:bodyPr anchor="b"/>
          <a:lstStyle>
            <a:lvl1pPr marL="0" indent="0">
              <a:buNone/>
              <a:defRPr sz="9098">
                <a:solidFill>
                  <a:schemeClr val="tx1">
                    <a:tint val="75000"/>
                  </a:schemeClr>
                </a:solidFill>
              </a:defRPr>
            </a:lvl1pPr>
            <a:lvl2pPr marL="2076465" indent="0">
              <a:buNone/>
              <a:defRPr sz="8157">
                <a:solidFill>
                  <a:schemeClr val="tx1">
                    <a:tint val="75000"/>
                  </a:schemeClr>
                </a:solidFill>
              </a:defRPr>
            </a:lvl2pPr>
            <a:lvl3pPr marL="4152930" indent="0">
              <a:buNone/>
              <a:defRPr sz="7216">
                <a:solidFill>
                  <a:schemeClr val="tx1">
                    <a:tint val="75000"/>
                  </a:schemeClr>
                </a:solidFill>
              </a:defRPr>
            </a:lvl3pPr>
            <a:lvl4pPr marL="6229396" indent="0">
              <a:buNone/>
              <a:defRPr sz="6379">
                <a:solidFill>
                  <a:schemeClr val="tx1">
                    <a:tint val="75000"/>
                  </a:schemeClr>
                </a:solidFill>
              </a:defRPr>
            </a:lvl4pPr>
            <a:lvl5pPr marL="8305862" indent="0">
              <a:buNone/>
              <a:defRPr sz="6379">
                <a:solidFill>
                  <a:schemeClr val="tx1">
                    <a:tint val="75000"/>
                  </a:schemeClr>
                </a:solidFill>
              </a:defRPr>
            </a:lvl5pPr>
            <a:lvl6pPr marL="10382327" indent="0">
              <a:buNone/>
              <a:defRPr sz="6379">
                <a:solidFill>
                  <a:schemeClr val="tx1">
                    <a:tint val="75000"/>
                  </a:schemeClr>
                </a:solidFill>
              </a:defRPr>
            </a:lvl6pPr>
            <a:lvl7pPr marL="12458792" indent="0">
              <a:buNone/>
              <a:defRPr sz="6379">
                <a:solidFill>
                  <a:schemeClr val="tx1">
                    <a:tint val="75000"/>
                  </a:schemeClr>
                </a:solidFill>
              </a:defRPr>
            </a:lvl7pPr>
            <a:lvl8pPr marL="14535257" indent="0">
              <a:buNone/>
              <a:defRPr sz="6379">
                <a:solidFill>
                  <a:schemeClr val="tx1">
                    <a:tint val="75000"/>
                  </a:schemeClr>
                </a:solidFill>
              </a:defRPr>
            </a:lvl8pPr>
            <a:lvl9pPr marL="16611723" indent="0">
              <a:buNone/>
              <a:defRPr sz="63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62B96-88EE-48E9-8438-412EDA792C3F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979E9-8FC2-4453-8679-3D175B56ED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9182" y="53760796"/>
            <a:ext cx="49316983" cy="152052248"/>
          </a:xfrm>
        </p:spPr>
        <p:txBody>
          <a:bodyPr/>
          <a:lstStyle>
            <a:lvl1pPr>
              <a:defRPr sz="12759"/>
            </a:lvl1pPr>
            <a:lvl2pPr>
              <a:defRPr sz="10876"/>
            </a:lvl2pPr>
            <a:lvl3pPr>
              <a:defRPr sz="9098"/>
            </a:lvl3pPr>
            <a:lvl4pPr>
              <a:defRPr sz="8157"/>
            </a:lvl4pPr>
            <a:lvl5pPr>
              <a:defRPr sz="8157"/>
            </a:lvl5pPr>
            <a:lvl6pPr>
              <a:defRPr sz="8157"/>
            </a:lvl6pPr>
            <a:lvl7pPr>
              <a:defRPr sz="8157"/>
            </a:lvl7pPr>
            <a:lvl8pPr>
              <a:defRPr sz="8157"/>
            </a:lvl8pPr>
            <a:lvl9pPr>
              <a:defRPr sz="8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336178" y="53760796"/>
            <a:ext cx="49316987" cy="152052248"/>
          </a:xfrm>
        </p:spPr>
        <p:txBody>
          <a:bodyPr/>
          <a:lstStyle>
            <a:lvl1pPr>
              <a:defRPr sz="12759"/>
            </a:lvl1pPr>
            <a:lvl2pPr>
              <a:defRPr sz="10876"/>
            </a:lvl2pPr>
            <a:lvl3pPr>
              <a:defRPr sz="9098"/>
            </a:lvl3pPr>
            <a:lvl4pPr>
              <a:defRPr sz="8157"/>
            </a:lvl4pPr>
            <a:lvl5pPr>
              <a:defRPr sz="8157"/>
            </a:lvl5pPr>
            <a:lvl6pPr>
              <a:defRPr sz="8157"/>
            </a:lvl6pPr>
            <a:lvl7pPr>
              <a:defRPr sz="8157"/>
            </a:lvl7pPr>
            <a:lvl8pPr>
              <a:defRPr sz="8157"/>
            </a:lvl8pPr>
            <a:lvl9pPr>
              <a:defRPr sz="8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D5E50-C484-41B2-90BF-01022E554333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95B8C-68F8-40BF-8B28-56625934D0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0033" y="1730029"/>
            <a:ext cx="27540585" cy="720010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0032" y="9670146"/>
            <a:ext cx="13520602" cy="4030056"/>
          </a:xfrm>
        </p:spPr>
        <p:txBody>
          <a:bodyPr anchor="b"/>
          <a:lstStyle>
            <a:lvl1pPr marL="0" indent="0">
              <a:buNone/>
              <a:defRPr sz="10876" b="1"/>
            </a:lvl1pPr>
            <a:lvl2pPr marL="2076465" indent="0">
              <a:buNone/>
              <a:defRPr sz="9098" b="1"/>
            </a:lvl2pPr>
            <a:lvl3pPr marL="4152930" indent="0">
              <a:buNone/>
              <a:defRPr sz="8157" b="1"/>
            </a:lvl3pPr>
            <a:lvl4pPr marL="6229396" indent="0">
              <a:buNone/>
              <a:defRPr sz="7216" b="1"/>
            </a:lvl4pPr>
            <a:lvl5pPr marL="8305862" indent="0">
              <a:buNone/>
              <a:defRPr sz="7216" b="1"/>
            </a:lvl5pPr>
            <a:lvl6pPr marL="10382327" indent="0">
              <a:buNone/>
              <a:defRPr sz="7216" b="1"/>
            </a:lvl6pPr>
            <a:lvl7pPr marL="12458792" indent="0">
              <a:buNone/>
              <a:defRPr sz="7216" b="1"/>
            </a:lvl7pPr>
            <a:lvl8pPr marL="14535257" indent="0">
              <a:buNone/>
              <a:defRPr sz="7216" b="1"/>
            </a:lvl8pPr>
            <a:lvl9pPr marL="16611723" indent="0">
              <a:buNone/>
              <a:defRPr sz="7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032" y="13700202"/>
            <a:ext cx="13520602" cy="24890371"/>
          </a:xfrm>
        </p:spPr>
        <p:txBody>
          <a:bodyPr/>
          <a:lstStyle>
            <a:lvl1pPr>
              <a:defRPr sz="10876"/>
            </a:lvl1pPr>
            <a:lvl2pPr>
              <a:defRPr sz="9098"/>
            </a:lvl2pPr>
            <a:lvl3pPr>
              <a:defRPr sz="8157"/>
            </a:lvl3pPr>
            <a:lvl4pPr>
              <a:defRPr sz="7216"/>
            </a:lvl4pPr>
            <a:lvl5pPr>
              <a:defRPr sz="7216"/>
            </a:lvl5pPr>
            <a:lvl6pPr>
              <a:defRPr sz="7216"/>
            </a:lvl6pPr>
            <a:lvl7pPr>
              <a:defRPr sz="7216"/>
            </a:lvl7pPr>
            <a:lvl8pPr>
              <a:defRPr sz="7216"/>
            </a:lvl8pPr>
            <a:lvl9pPr>
              <a:defRPr sz="72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544707" y="9670146"/>
            <a:ext cx="13525912" cy="4030056"/>
          </a:xfrm>
        </p:spPr>
        <p:txBody>
          <a:bodyPr anchor="b"/>
          <a:lstStyle>
            <a:lvl1pPr marL="0" indent="0">
              <a:buNone/>
              <a:defRPr sz="10876" b="1"/>
            </a:lvl1pPr>
            <a:lvl2pPr marL="2076465" indent="0">
              <a:buNone/>
              <a:defRPr sz="9098" b="1"/>
            </a:lvl2pPr>
            <a:lvl3pPr marL="4152930" indent="0">
              <a:buNone/>
              <a:defRPr sz="8157" b="1"/>
            </a:lvl3pPr>
            <a:lvl4pPr marL="6229396" indent="0">
              <a:buNone/>
              <a:defRPr sz="7216" b="1"/>
            </a:lvl4pPr>
            <a:lvl5pPr marL="8305862" indent="0">
              <a:buNone/>
              <a:defRPr sz="7216" b="1"/>
            </a:lvl5pPr>
            <a:lvl6pPr marL="10382327" indent="0">
              <a:buNone/>
              <a:defRPr sz="7216" b="1"/>
            </a:lvl6pPr>
            <a:lvl7pPr marL="12458792" indent="0">
              <a:buNone/>
              <a:defRPr sz="7216" b="1"/>
            </a:lvl7pPr>
            <a:lvl8pPr marL="14535257" indent="0">
              <a:buNone/>
              <a:defRPr sz="7216" b="1"/>
            </a:lvl8pPr>
            <a:lvl9pPr marL="16611723" indent="0">
              <a:buNone/>
              <a:defRPr sz="7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544707" y="13700202"/>
            <a:ext cx="13525912" cy="24890371"/>
          </a:xfrm>
        </p:spPr>
        <p:txBody>
          <a:bodyPr/>
          <a:lstStyle>
            <a:lvl1pPr>
              <a:defRPr sz="10876"/>
            </a:lvl1pPr>
            <a:lvl2pPr>
              <a:defRPr sz="9098"/>
            </a:lvl2pPr>
            <a:lvl3pPr>
              <a:defRPr sz="8157"/>
            </a:lvl3pPr>
            <a:lvl4pPr>
              <a:defRPr sz="7216"/>
            </a:lvl4pPr>
            <a:lvl5pPr>
              <a:defRPr sz="7216"/>
            </a:lvl5pPr>
            <a:lvl6pPr>
              <a:defRPr sz="7216"/>
            </a:lvl6pPr>
            <a:lvl7pPr>
              <a:defRPr sz="7216"/>
            </a:lvl7pPr>
            <a:lvl8pPr>
              <a:defRPr sz="7216"/>
            </a:lvl8pPr>
            <a:lvl9pPr>
              <a:defRPr sz="72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86A5C-FB77-4C17-83F3-BF7357DEC588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68BD3-37AB-4200-BC3C-4F54778D11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C1B94-2100-4B5E-95F5-A8D73CBB3ECF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3B997-42B8-4E74-8FD6-5EA5249CE1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4E433-20FE-4056-BDF4-E5BC41CDE3A5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5D882-8584-42C5-868A-646036B8B2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0035" y="1720026"/>
            <a:ext cx="10067403" cy="7320108"/>
          </a:xfrm>
        </p:spPr>
        <p:txBody>
          <a:bodyPr anchor="b"/>
          <a:lstStyle>
            <a:lvl1pPr algn="l">
              <a:defRPr sz="90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64004" y="1720030"/>
            <a:ext cx="17106613" cy="36870548"/>
          </a:xfrm>
        </p:spPr>
        <p:txBody>
          <a:bodyPr/>
          <a:lstStyle>
            <a:lvl1pPr>
              <a:defRPr sz="14537"/>
            </a:lvl1pPr>
            <a:lvl2pPr>
              <a:defRPr sz="12759"/>
            </a:lvl2pPr>
            <a:lvl3pPr>
              <a:defRPr sz="10876"/>
            </a:lvl3pPr>
            <a:lvl4pPr>
              <a:defRPr sz="9098"/>
            </a:lvl4pPr>
            <a:lvl5pPr>
              <a:defRPr sz="9098"/>
            </a:lvl5pPr>
            <a:lvl6pPr>
              <a:defRPr sz="9098"/>
            </a:lvl6pPr>
            <a:lvl7pPr>
              <a:defRPr sz="9098"/>
            </a:lvl7pPr>
            <a:lvl8pPr>
              <a:defRPr sz="9098"/>
            </a:lvl8pPr>
            <a:lvl9pPr>
              <a:defRPr sz="9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0035" y="9040138"/>
            <a:ext cx="10067403" cy="29550440"/>
          </a:xfrm>
        </p:spPr>
        <p:txBody>
          <a:bodyPr/>
          <a:lstStyle>
            <a:lvl1pPr marL="0" indent="0">
              <a:buNone/>
              <a:defRPr sz="6379"/>
            </a:lvl1pPr>
            <a:lvl2pPr marL="2076465" indent="0">
              <a:buNone/>
              <a:defRPr sz="5438"/>
            </a:lvl2pPr>
            <a:lvl3pPr marL="4152930" indent="0">
              <a:buNone/>
              <a:defRPr sz="4497"/>
            </a:lvl3pPr>
            <a:lvl4pPr marL="6229396" indent="0">
              <a:buNone/>
              <a:defRPr sz="4079"/>
            </a:lvl4pPr>
            <a:lvl5pPr marL="8305862" indent="0">
              <a:buNone/>
              <a:defRPr sz="4079"/>
            </a:lvl5pPr>
            <a:lvl6pPr marL="10382327" indent="0">
              <a:buNone/>
              <a:defRPr sz="4079"/>
            </a:lvl6pPr>
            <a:lvl7pPr marL="12458792" indent="0">
              <a:buNone/>
              <a:defRPr sz="4079"/>
            </a:lvl7pPr>
            <a:lvl8pPr marL="14535257" indent="0">
              <a:buNone/>
              <a:defRPr sz="4079"/>
            </a:lvl8pPr>
            <a:lvl9pPr marL="16611723" indent="0">
              <a:buNone/>
              <a:defRPr sz="40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A9124-EFF5-4EBC-A39C-34100FFB99F8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57088-6F82-4A9F-AFD0-B3A7BC7233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7942" y="30240449"/>
            <a:ext cx="18360390" cy="3570056"/>
          </a:xfrm>
        </p:spPr>
        <p:txBody>
          <a:bodyPr anchor="b"/>
          <a:lstStyle>
            <a:lvl1pPr algn="l">
              <a:defRPr sz="90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97942" y="3860057"/>
            <a:ext cx="18360390" cy="25920383"/>
          </a:xfrm>
        </p:spPr>
        <p:txBody>
          <a:bodyPr rtlCol="0">
            <a:normAutofit/>
          </a:bodyPr>
          <a:lstStyle>
            <a:lvl1pPr marL="0" indent="0">
              <a:buNone/>
              <a:defRPr sz="14537"/>
            </a:lvl1pPr>
            <a:lvl2pPr marL="2076465" indent="0">
              <a:buNone/>
              <a:defRPr sz="12759"/>
            </a:lvl2pPr>
            <a:lvl3pPr marL="4152930" indent="0">
              <a:buNone/>
              <a:defRPr sz="10876"/>
            </a:lvl3pPr>
            <a:lvl4pPr marL="6229396" indent="0">
              <a:buNone/>
              <a:defRPr sz="9098"/>
            </a:lvl4pPr>
            <a:lvl5pPr marL="8305862" indent="0">
              <a:buNone/>
              <a:defRPr sz="9098"/>
            </a:lvl5pPr>
            <a:lvl6pPr marL="10382327" indent="0">
              <a:buNone/>
              <a:defRPr sz="9098"/>
            </a:lvl6pPr>
            <a:lvl7pPr marL="12458792" indent="0">
              <a:buNone/>
              <a:defRPr sz="9098"/>
            </a:lvl7pPr>
            <a:lvl8pPr marL="14535257" indent="0">
              <a:buNone/>
              <a:defRPr sz="9098"/>
            </a:lvl8pPr>
            <a:lvl9pPr marL="16611723" indent="0">
              <a:buNone/>
              <a:defRPr sz="9098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97942" y="33810505"/>
            <a:ext cx="18360390" cy="5070071"/>
          </a:xfrm>
        </p:spPr>
        <p:txBody>
          <a:bodyPr/>
          <a:lstStyle>
            <a:lvl1pPr marL="0" indent="0">
              <a:buNone/>
              <a:defRPr sz="6379"/>
            </a:lvl1pPr>
            <a:lvl2pPr marL="2076465" indent="0">
              <a:buNone/>
              <a:defRPr sz="5438"/>
            </a:lvl2pPr>
            <a:lvl3pPr marL="4152930" indent="0">
              <a:buNone/>
              <a:defRPr sz="4497"/>
            </a:lvl3pPr>
            <a:lvl4pPr marL="6229396" indent="0">
              <a:buNone/>
              <a:defRPr sz="4079"/>
            </a:lvl4pPr>
            <a:lvl5pPr marL="8305862" indent="0">
              <a:buNone/>
              <a:defRPr sz="4079"/>
            </a:lvl5pPr>
            <a:lvl6pPr marL="10382327" indent="0">
              <a:buNone/>
              <a:defRPr sz="4079"/>
            </a:lvl6pPr>
            <a:lvl7pPr marL="12458792" indent="0">
              <a:buNone/>
              <a:defRPr sz="4079"/>
            </a:lvl7pPr>
            <a:lvl8pPr marL="14535257" indent="0">
              <a:buNone/>
              <a:defRPr sz="4079"/>
            </a:lvl8pPr>
            <a:lvl9pPr marL="16611723" indent="0">
              <a:buNone/>
              <a:defRPr sz="40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50D20-C078-426D-A647-8462AA0B2A85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0D37D-444F-4394-AE8F-B802213704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9BBCC5-1264-43C2-823F-5EA6C25B854C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DB540-2EA7-48B4-90CB-7E9CEDD821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9822" y="9230145"/>
            <a:ext cx="24783341" cy="1965829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9184" y="9230145"/>
            <a:ext cx="73850629" cy="1965829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000A6-7F49-4BC7-98CA-EC87DDC72F26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3CA00-3087-46EA-9842-5F73929C2B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530697" y="1730651"/>
            <a:ext cx="27539257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97106" tIns="198553" rIns="397106" bIns="1985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30697" y="10080149"/>
            <a:ext cx="27539257" cy="28509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97106" tIns="198553" rIns="397106" bIns="1985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0696" y="40041217"/>
            <a:ext cx="7138824" cy="2298784"/>
          </a:xfrm>
          <a:prstGeom prst="rect">
            <a:avLst/>
          </a:prstGeom>
        </p:spPr>
        <p:txBody>
          <a:bodyPr vert="horz" wrap="square" lIns="397106" tIns="198553" rIns="397106" bIns="198553" numCol="1" anchor="ctr" anchorCtr="0" compatLnSpc="1">
            <a:prstTxWarp prst="textNoShape">
              <a:avLst/>
            </a:prstTxWarp>
          </a:bodyPr>
          <a:lstStyle>
            <a:lvl1pPr>
              <a:defRPr sz="5438">
                <a:solidFill>
                  <a:srgbClr val="898989"/>
                </a:solidFill>
                <a:latin typeface="Calibri" pitchFamily="-109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fld id="{8AC2EA99-D36F-490C-BD39-E3C482C07ADA}" type="datetime1">
              <a:rPr lang="en-US"/>
              <a:pPr>
                <a:defRPr/>
              </a:pPr>
              <a:t>6/24/2022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55886" y="40041217"/>
            <a:ext cx="9688878" cy="2298784"/>
          </a:xfrm>
          <a:prstGeom prst="rect">
            <a:avLst/>
          </a:prstGeom>
        </p:spPr>
        <p:txBody>
          <a:bodyPr vert="horz" wrap="square" lIns="397106" tIns="198553" rIns="397106" bIns="198553" numCol="1" anchor="ctr" anchorCtr="0" compatLnSpc="1">
            <a:prstTxWarp prst="textNoShape">
              <a:avLst/>
            </a:prstTxWarp>
          </a:bodyPr>
          <a:lstStyle>
            <a:lvl1pPr algn="ctr">
              <a:defRPr sz="5438">
                <a:solidFill>
                  <a:srgbClr val="898989"/>
                </a:solidFill>
                <a:latin typeface="Calibri" pitchFamily="-109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31130" y="40041217"/>
            <a:ext cx="7138824" cy="2298784"/>
          </a:xfrm>
          <a:prstGeom prst="rect">
            <a:avLst/>
          </a:prstGeom>
        </p:spPr>
        <p:txBody>
          <a:bodyPr vert="horz" wrap="square" lIns="397106" tIns="198553" rIns="397106" bIns="198553" numCol="1" anchor="ctr" anchorCtr="0" compatLnSpc="1">
            <a:prstTxWarp prst="textNoShape">
              <a:avLst/>
            </a:prstTxWarp>
          </a:bodyPr>
          <a:lstStyle>
            <a:lvl1pPr algn="r">
              <a:defRPr sz="5438">
                <a:solidFill>
                  <a:srgbClr val="898989"/>
                </a:solidFill>
                <a:latin typeface="Calibri" pitchFamily="-109" charset="0"/>
                <a:ea typeface="ＭＳ Ｐゴシック" pitchFamily="-109" charset="-128"/>
                <a:cs typeface="+mn-cs"/>
              </a:defRPr>
            </a:lvl1pPr>
          </a:lstStyle>
          <a:p>
            <a:pPr>
              <a:defRPr/>
            </a:pPr>
            <a:fld id="{8F1F6918-6E9F-4266-944D-3DB3E980C6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defTabSz="4152179" rtl="0" eaLnBrk="0" fontAlgn="base" hangingPunct="0">
        <a:spcBef>
          <a:spcPct val="0"/>
        </a:spcBef>
        <a:spcAft>
          <a:spcPct val="0"/>
        </a:spcAft>
        <a:defRPr sz="19975" kern="1200">
          <a:solidFill>
            <a:schemeClr val="tx1"/>
          </a:solidFill>
          <a:latin typeface="+mj-lt"/>
          <a:ea typeface="ＭＳ Ｐゴシック" pitchFamily="-109" charset="-128"/>
          <a:cs typeface="+mj-cs"/>
        </a:defRPr>
      </a:lvl1pPr>
      <a:lvl2pPr algn="ctr" defTabSz="4152179" rtl="0" eaLnBrk="0" fontAlgn="base" hangingPunct="0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  <a:ea typeface="ＭＳ Ｐゴシック" pitchFamily="-109" charset="-128"/>
        </a:defRPr>
      </a:lvl2pPr>
      <a:lvl3pPr algn="ctr" defTabSz="4152179" rtl="0" eaLnBrk="0" fontAlgn="base" hangingPunct="0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  <a:ea typeface="ＭＳ Ｐゴシック" pitchFamily="-109" charset="-128"/>
        </a:defRPr>
      </a:lvl3pPr>
      <a:lvl4pPr algn="ctr" defTabSz="4152179" rtl="0" eaLnBrk="0" fontAlgn="base" hangingPunct="0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  <a:ea typeface="ＭＳ Ｐゴシック" pitchFamily="-109" charset="-128"/>
        </a:defRPr>
      </a:lvl4pPr>
      <a:lvl5pPr algn="ctr" defTabSz="4152179" rtl="0" eaLnBrk="0" fontAlgn="base" hangingPunct="0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  <a:ea typeface="ＭＳ Ｐゴシック" pitchFamily="-109" charset="-128"/>
        </a:defRPr>
      </a:lvl5pPr>
      <a:lvl6pPr marL="478140" algn="ctr" defTabSz="4152179" rtl="0" fontAlgn="base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</a:defRPr>
      </a:lvl6pPr>
      <a:lvl7pPr marL="956280" algn="ctr" defTabSz="4152179" rtl="0" fontAlgn="base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</a:defRPr>
      </a:lvl7pPr>
      <a:lvl8pPr marL="1434419" algn="ctr" defTabSz="4152179" rtl="0" fontAlgn="base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</a:defRPr>
      </a:lvl8pPr>
      <a:lvl9pPr marL="1912559" algn="ctr" defTabSz="4152179" rtl="0" fontAlgn="base">
        <a:spcBef>
          <a:spcPct val="0"/>
        </a:spcBef>
        <a:spcAft>
          <a:spcPct val="0"/>
        </a:spcAft>
        <a:defRPr sz="19975">
          <a:solidFill>
            <a:schemeClr val="tx1"/>
          </a:solidFill>
          <a:latin typeface="Calibri" pitchFamily="34" charset="0"/>
        </a:defRPr>
      </a:lvl9pPr>
    </p:titleStyle>
    <p:bodyStyle>
      <a:lvl1pPr marL="1557275" indent="-1557275" algn="l" defTabSz="415217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537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1pPr>
      <a:lvl2pPr marL="3373542" indent="-1296623" algn="l" defTabSz="415217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2759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2pPr>
      <a:lvl3pPr marL="5189809" indent="-1037630" algn="l" defTabSz="4152179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0876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3pPr>
      <a:lvl4pPr marL="7266729" indent="-1037630" algn="l" defTabSz="4152179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9098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4pPr>
      <a:lvl5pPr marL="9343648" indent="-1037630" algn="l" defTabSz="4152179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9098" kern="12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5pPr>
      <a:lvl6pPr marL="11420560" indent="-1038233" algn="l" defTabSz="4152930" rtl="0" eaLnBrk="1" latinLnBrk="0" hangingPunct="1">
        <a:spcBef>
          <a:spcPct val="20000"/>
        </a:spcBef>
        <a:buFont typeface="Arial" pitchFamily="34" charset="0"/>
        <a:buChar char="•"/>
        <a:defRPr sz="9098" kern="1200">
          <a:solidFill>
            <a:schemeClr val="tx1"/>
          </a:solidFill>
          <a:latin typeface="+mn-lt"/>
          <a:ea typeface="+mn-ea"/>
          <a:cs typeface="+mn-cs"/>
        </a:defRPr>
      </a:lvl6pPr>
      <a:lvl7pPr marL="13497025" indent="-1038233" algn="l" defTabSz="4152930" rtl="0" eaLnBrk="1" latinLnBrk="0" hangingPunct="1">
        <a:spcBef>
          <a:spcPct val="20000"/>
        </a:spcBef>
        <a:buFont typeface="Arial" pitchFamily="34" charset="0"/>
        <a:buChar char="•"/>
        <a:defRPr sz="9098" kern="1200">
          <a:solidFill>
            <a:schemeClr val="tx1"/>
          </a:solidFill>
          <a:latin typeface="+mn-lt"/>
          <a:ea typeface="+mn-ea"/>
          <a:cs typeface="+mn-cs"/>
        </a:defRPr>
      </a:lvl7pPr>
      <a:lvl8pPr marL="15573490" indent="-1038233" algn="l" defTabSz="4152930" rtl="0" eaLnBrk="1" latinLnBrk="0" hangingPunct="1">
        <a:spcBef>
          <a:spcPct val="20000"/>
        </a:spcBef>
        <a:buFont typeface="Arial" pitchFamily="34" charset="0"/>
        <a:buChar char="•"/>
        <a:defRPr sz="9098" kern="1200">
          <a:solidFill>
            <a:schemeClr val="tx1"/>
          </a:solidFill>
          <a:latin typeface="+mn-lt"/>
          <a:ea typeface="+mn-ea"/>
          <a:cs typeface="+mn-cs"/>
        </a:defRPr>
      </a:lvl8pPr>
      <a:lvl9pPr marL="17649955" indent="-1038233" algn="l" defTabSz="4152930" rtl="0" eaLnBrk="1" latinLnBrk="0" hangingPunct="1">
        <a:spcBef>
          <a:spcPct val="20000"/>
        </a:spcBef>
        <a:buFont typeface="Arial" pitchFamily="34" charset="0"/>
        <a:buChar char="•"/>
        <a:defRPr sz="90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1pPr>
      <a:lvl2pPr marL="2076465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2pPr>
      <a:lvl3pPr marL="4152930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3pPr>
      <a:lvl4pPr marL="6229396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4pPr>
      <a:lvl5pPr marL="8305862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5pPr>
      <a:lvl6pPr marL="10382327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6pPr>
      <a:lvl7pPr marL="12458792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7pPr>
      <a:lvl8pPr marL="14535257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8pPr>
      <a:lvl9pPr marL="16611723" algn="l" defTabSz="4152930" rtl="0" eaLnBrk="1" latinLnBrk="0" hangingPunct="1">
        <a:defRPr sz="81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BA1F29F-0719-4F59-AE28-AD382E4408B2}"/>
              </a:ext>
            </a:extLst>
          </p:cNvPr>
          <p:cNvSpPr/>
          <p:nvPr/>
        </p:nvSpPr>
        <p:spPr>
          <a:xfrm>
            <a:off x="8747125" y="1242904"/>
            <a:ext cx="20946773" cy="3458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182880"/>
          <a:lstStyle/>
          <a:p>
            <a:pPr algn="ctr">
              <a:spcAft>
                <a:spcPts val="0"/>
              </a:spcAft>
            </a:pPr>
            <a:r>
              <a:rPr sz="5800" b="0">
                <a:solidFill>
                  <a:srgbClr val="FFFFFF"/>
                </a:solidFill>
                <a:latin typeface="Calibri"/>
                <a:ea typeface="맑은 고딕"/>
              </a:rPr>
              <a:t>Dose-Dependent Interaction of Doxorubicin and Sorafenib in PANC-1 Pancreatic Cancer Cells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C40B0F-819E-4B5B-9754-5DD511CE7EAA}"/>
              </a:ext>
            </a:extLst>
          </p:cNvPr>
          <p:cNvSpPr/>
          <p:nvPr/>
        </p:nvSpPr>
        <p:spPr>
          <a:xfrm>
            <a:off x="729281" y="7867480"/>
            <a:ext cx="14270380" cy="228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74320" bIns="182880"/>
          <a:lstStyle/>
          <a:p>
            <a:pPr>
              <a:spcAft>
                <a:spcPts val="1400"/>
              </a:spcAft>
            </a:pPr>
            <a:r>
              <a:rPr sz="4800" b="1">
                <a:solidFill>
                  <a:srgbClr val="FFFFFF"/>
                </a:solidFill>
                <a:latin typeface="Calibri"/>
                <a:ea typeface="맑은 고딕"/>
              </a:rPr>
              <a:t>1. Background of the Study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A40E0AA-F8C0-4A2E-BF91-7158453CB4DE}"/>
              </a:ext>
            </a:extLst>
          </p:cNvPr>
          <p:cNvSpPr/>
          <p:nvPr/>
        </p:nvSpPr>
        <p:spPr>
          <a:xfrm>
            <a:off x="729281" y="31175267"/>
            <a:ext cx="14270380" cy="11225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74320" bIns="182880"/>
          <a:lstStyle/>
          <a:p>
            <a:pPr lvl="0">
              <a:spcAft>
                <a:spcPts val="1400"/>
              </a:spcAft>
            </a:pPr>
            <a:r>
              <a:rPr sz="4800" b="1">
                <a:solidFill>
                  <a:srgbClr val="FFFFFF"/>
                </a:solidFill>
                <a:latin typeface="Calibri"/>
                <a:ea typeface="맑은 고딕"/>
              </a:rPr>
              <a:t>2. Experimental Methods</a:t>
            </a:r>
          </a:p>
          <a:p>
            <a:pPr marL="381000" indent="-38100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PANC-1 cell은 FBS 포함 DMEM </a:t>
            </a:r>
            <a:r>
              <a:rPr sz="3000" b="0">
                <a:solidFill>
                  <a:srgbClr val="FFE066"/>
                </a:solidFill>
                <a:latin typeface="Calibri"/>
                <a:ea typeface="맑은 고딕"/>
              </a:rPr>
              <a:t>[FBS 농도]</a:t>
            </a: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에서 배양하였다. 96-well plate에 well당 1×10⁴ cells로 seeding하고 1일간 배양하였다.</a:t>
            </a:r>
          </a:p>
          <a:p>
            <a:pPr marL="381000" indent="-38100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SOR stock은 DMSO에 95.6 mg/mL(150 mM), DOX·HCl stock은 water에 5.8 mg/mL(10 mM)로 제조하였다. 병용군은 SOR:DOX = 5:1(질량비)의 고정 비율로 제조하였다.</a:t>
            </a:r>
          </a:p>
          <a:p>
            <a:pPr marL="381000" indent="-38100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각 약물과 병용군을 DMEM으로 4배씩 연속 희석하여 10개 농도를 만들었다. 단독군은 SOR 4×10⁻⁴–95.6, DOX 3.3×10⁻⁵–8.70 µg/mL, 병용군은 SOR 31.58 + DOX 6.316 µg/mL(총농도 37.9 µg/mL)에서 시작하였다.</a:t>
            </a:r>
          </a:p>
          <a:p>
            <a:pPr marL="381000" indent="-38100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1일 배양 후 약물을 처리하고 2일(48 h) 동안 배양하였다. 최종 DMSO 농도는 0.1% 이하이며, 각 농도당 6 well(n = 6, 100 µL/well)로 하고, 0.1% DMSO 용매 대조군을 12열에 두었다.</a:t>
            </a:r>
          </a:p>
          <a:p>
            <a:pPr marL="381000" indent="-38100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FBS-free fresh DMEM으로 2회 washing한 후 CCK-8 시약을 처리하고 4시간 후 450 nm에서 흡광도를 측정하여 viability(%)를 구하였고, Fa = 1 − viability로 변환하였다. 독립 실험은 1회 수행하였다.</a:t>
            </a:r>
          </a:p>
          <a:p>
            <a:pPr marL="381000" indent="-38100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Calibri"/>
                <a:ea typeface="맑은 고딕"/>
              </a:rPr>
              <a:t>Median-effect equation으로 Dm, m, r을 산출하고 CompuSyn software로 combination index(CI), dose reduction index(DRI), isobologram을 도출하였다. CI &lt; 0.9는 synergism, 0.9–1.1은 additive, &gt; 1.1은 antagonism으로 판정하였다. 10)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2CF7307-AF96-4C8C-BF6F-DC0156490BE9}"/>
              </a:ext>
            </a:extLst>
          </p:cNvPr>
          <p:cNvSpPr/>
          <p:nvPr/>
        </p:nvSpPr>
        <p:spPr>
          <a:xfrm>
            <a:off x="15477796" y="7881429"/>
            <a:ext cx="14393573" cy="20025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74320" bIns="182880"/>
          <a:lstStyle/>
          <a:p>
            <a:pPr lvl="0">
              <a:spcAft>
                <a:spcPts val="1400"/>
              </a:spcAft>
            </a:pPr>
            <a:r>
              <a:rPr sz="4800" b="1">
                <a:solidFill>
                  <a:srgbClr val="FFFFFF"/>
                </a:solidFill>
                <a:latin typeface="Calibri"/>
                <a:ea typeface="맑은 고딕"/>
              </a:rPr>
              <a:t>3. Results and Discussion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1D007A-C5E7-4F91-B387-1411512EC41B}"/>
              </a:ext>
            </a:extLst>
          </p:cNvPr>
          <p:cNvSpPr/>
          <p:nvPr/>
        </p:nvSpPr>
        <p:spPr>
          <a:xfrm>
            <a:off x="15477795" y="28306789"/>
            <a:ext cx="14393572" cy="7589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74320" bIns="182880"/>
          <a:lstStyle/>
          <a:p>
            <a:pPr lvl="0">
              <a:spcAft>
                <a:spcPts val="1400"/>
              </a:spcAft>
            </a:pPr>
            <a:r>
              <a:rPr sz="4800" b="1">
                <a:solidFill>
                  <a:srgbClr val="FFFFFF"/>
                </a:solidFill>
                <a:latin typeface="Calibri"/>
                <a:ea typeface="맑은 고딕"/>
              </a:rPr>
              <a:t>4. Conclusion</a:t>
            </a:r>
          </a:p>
          <a:p>
            <a:pPr marL="368300" indent="-368300">
              <a:spcAft>
                <a:spcPts val="9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Calibri"/>
                <a:ea typeface="맑은 고딕"/>
              </a:rPr>
              <a:t>DOX+SOR 병용은 PANC-1에서 중간 효과 수준(ED50)에서만 경미한 synergism을 보였고, 높은 효과 수준(ED90 이상)에서는 antagonism으로 전환되었다.</a:t>
            </a:r>
          </a:p>
          <a:p>
            <a:pPr marL="368300" indent="-368300">
              <a:spcAft>
                <a:spcPts val="9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Calibri"/>
                <a:ea typeface="맑은 고딕"/>
              </a:rPr>
              <a:t>ED50 부근의 synergism은 SOR의 RAF-1 억제가 DOX 감수성을 높인다는 가설과 부합한다. 5) 반면 높은 효과 수준의 antagonism은 SOR가 ERK를 억제하여 DOX 유도 세포사멸을 저해했을 가능성을 추측해볼 수 있다. 6,9)</a:t>
            </a:r>
          </a:p>
          <a:p>
            <a:pPr marL="368300" indent="-368300">
              <a:spcAft>
                <a:spcPts val="9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Calibri"/>
                <a:ea typeface="맑은 고딕"/>
              </a:rPr>
              <a:t>이는 synergy가 드물고 특정 농도 범위에서만 관찰된다는 대규모 스크리닝 결과 11) 및 HCC 3상의 무이득 결과와 같은 방향이다. 8)</a:t>
            </a:r>
          </a:p>
          <a:p>
            <a:pPr marL="368300" indent="-368300">
              <a:spcAft>
                <a:spcPts val="9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Calibri"/>
                <a:ea typeface="맑은 고딕"/>
              </a:rPr>
              <a:t>다만 독립 실험이 1회(n = 6 well)이고 r 값이 낮으며 실측 CI의 편차가 커, 독립 반복 실험, 비율·투여 순서 검증, 세포사멸 기전(ERK 인산화 등) 확인이 필요하다.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6B107AE-EF2F-46E2-B14A-65E64CE62083}"/>
              </a:ext>
            </a:extLst>
          </p:cNvPr>
          <p:cNvSpPr/>
          <p:nvPr/>
        </p:nvSpPr>
        <p:spPr>
          <a:xfrm>
            <a:off x="15525510" y="36296309"/>
            <a:ext cx="14345857" cy="6104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74320" bIns="182880"/>
          <a:lstStyle/>
          <a:p>
            <a:pPr lvl="0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  <a:ea typeface="맑은 고딕"/>
              </a:rPr>
              <a:t>References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1) Yun SM, et al. Cancer Lett 331, 250–261 (2013).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2) Kindler HL, et al. Invest New Drugs 30(1) (2012).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3) Thorn CF, et al. Pharmacogenet Genomics 21, 440–446 (2011).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4) van der Zanden SY, et al. FEBS J 288, 6095–6111 (2021).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5) El Dika I, et al. Cancer Med (2020).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6) Yang YT, Yuzbasiyan-Gurkan V. Int J Mol Sci 23, 9345 (2022).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7) Abou-Alfa GK, et al. JAMA 304, 2154–2160 (2010).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8) Abou-Alfa GK, et al. JAMA Oncol 5, 1582–1588 (2019).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9) Manov I, et al. FEBS J 278, 3494–3507 (2011).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10) Chou TC. Cancer Res 70, 440–446 (2010).</a:t>
            </a:r>
          </a:p>
          <a:p>
            <a:pPr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Calibri"/>
                <a:ea typeface="맑은 고딕"/>
              </a:rPr>
              <a:t>11) Jaaks P, et al. Nature 603, 166–173 (2022).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054AA4-D11A-4B59-B6A6-19D37625932C}"/>
              </a:ext>
            </a:extLst>
          </p:cNvPr>
          <p:cNvSpPr/>
          <p:nvPr/>
        </p:nvSpPr>
        <p:spPr>
          <a:xfrm>
            <a:off x="8747125" y="5543714"/>
            <a:ext cx="20914031" cy="13594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182880"/>
          <a:lstStyle/>
          <a:p>
            <a:pPr algn="ctr">
              <a:spcAft>
                <a:spcPts val="0"/>
              </a:spcAft>
            </a:pPr>
            <a:r>
              <a:rPr sz="3200" b="0">
                <a:solidFill>
                  <a:srgbClr val="FFE066"/>
                </a:solidFill>
                <a:latin typeface="Calibri"/>
                <a:ea typeface="맑은 고딕"/>
              </a:rPr>
              <a:t>[Presenter Name]</a:t>
            </a:r>
            <a:r>
              <a:rPr sz="3200" b="0">
                <a:solidFill>
                  <a:srgbClr val="FFFFFF"/>
                </a:solidFill>
                <a:latin typeface="Calibri"/>
                <a:ea typeface="맑은 고딕"/>
              </a:rPr>
              <a:t> and Kyung Taek Oh</a:t>
            </a:r>
          </a:p>
          <a:p>
            <a:pPr algn="ctr"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Calibri"/>
                <a:ea typeface="맑은 고딕"/>
              </a:rPr>
              <a:t>Nanobiopharmaceutical Laboratory, College of Pharmacy, Chung-Ang University</a:t>
            </a:r>
          </a:p>
        </p:txBody>
      </p:sp>
      <p:pic>
        <p:nvPicPr>
          <p:cNvPr id="13" name="Picture 1" descr="oz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" b="1152"/>
          <a:stretch>
            <a:fillRect/>
          </a:stretch>
        </p:blipFill>
        <p:spPr bwMode="auto">
          <a:xfrm>
            <a:off x="1298819" y="2317012"/>
            <a:ext cx="6934200" cy="3057414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xtLst/>
        </p:spPr>
      </p:pic>
      <p:sp>
        <p:nvSpPr>
          <p:cNvPr id="51" name="TextBox 50"/>
          <p:cNvSpPr txBox="1"/>
          <p:nvPr/>
        </p:nvSpPr>
        <p:spPr>
          <a:xfrm>
            <a:off x="1095041" y="9193360"/>
            <a:ext cx="13538860" cy="543077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췌장암은 RAF/MEK/ERK 및 PI3K/AKT 경로가 깊이 관여하는 난치성 고형암이며, 단일 약물의 효과가 제한적이어서 병용요법이 필요하다. 1)</a:t>
            </a:r>
          </a:p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Doxorubicin(DOX)은 DNA 삽입과 topoisomerase II 독성으로 DNA 이중가닥 손상을 일으키고, 활성산소(ROS) 생성으로 세포사멸을 유도한다. 3,4)</a:t>
            </a:r>
          </a:p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Sorafenib(SOR)은 RAF-1과 B-RAF를 억제하여 RAF/MEK/ERK 신호를 차단하고, VEGFR2/3, PDGFR-β, c-KIT도 억제하는 multikinase inhibitor이다. 2,6)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8465" y="14587557"/>
            <a:ext cx="13612012" cy="45861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fig_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041" y="14624133"/>
            <a:ext cx="13538860" cy="451295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95041" y="19246814"/>
            <a:ext cx="135388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Calibri"/>
                <a:ea typeface="맑은 고딕"/>
              </a:rPr>
              <a:t>Figure 1. Mechanisms of action of DOX and SOR.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5041" y="19932614"/>
            <a:ext cx="13538860" cy="6017513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두 약물은 작용기전이 달라 내성 감소와 용량 절감이 기대되며, 골육종 세포에서 SOR+DOX 병용의 시너지가 보고되었다. 6)</a:t>
            </a:r>
          </a:p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가설: SOR의 RAF-1 억제가 pro-apoptotic kinase인 ASK-1을 증가시켜 DOX 감수성을 높일 것이다. 5) 반면 DOX는 MEK/ERK 활성화로 세포사멸을 유도하므로, ERK를 억제하는 SOR는 길항할 수 있다. 9)</a:t>
            </a:r>
          </a:p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간세포암(HCC)에서 DOX+SOR는 2상에서 DOX 단독보다 OS를 개선하였으나 7) 3상에서는 이득이 없었다. 8)</a:t>
            </a:r>
          </a:p>
          <a:p>
            <a:pPr marL="419100" indent="-419100">
              <a:spcAft>
                <a:spcPts val="1000"/>
              </a:spcAft>
              <a:buChar char="•"/>
            </a:pPr>
            <a:r>
              <a:rPr sz="3300" b="0">
                <a:solidFill>
                  <a:srgbClr val="FFFFFF"/>
                </a:solidFill>
                <a:latin typeface="Calibri"/>
                <a:ea typeface="맑은 고딕"/>
              </a:rPr>
              <a:t>그러나 PANC-1에서 DOX+SOR의 상호작용을 정량한 보고는 조사 범위 내에서 확인되지 않아 Chou–Talalay method로 평가하였다. 10)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8465" y="25913551"/>
            <a:ext cx="13612012" cy="4021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ig_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041" y="25950127"/>
            <a:ext cx="13538860" cy="394883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95041" y="30008689"/>
            <a:ext cx="135388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Calibri"/>
                <a:ea typeface="맑은 고딕"/>
              </a:rPr>
              <a:t>Figure 2. Rationale for evaluating the DOX and SOR combination in PANC-1 cells.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669820" y="9399333"/>
            <a:ext cx="6839712" cy="5078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fig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6396" y="9435909"/>
            <a:ext cx="6766560" cy="50054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706396" y="14532749"/>
            <a:ext cx="67665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  <a:ea typeface="맑은 고딕"/>
              </a:rPr>
              <a:t>Figure 3. Dose–effect curves of SOR, DOX and the DOX+SOR combination in PANC-1 cells.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64396" y="9399333"/>
            <a:ext cx="6839712" cy="5078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fig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00972" y="9435909"/>
            <a:ext cx="6766560" cy="5005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600972" y="14532749"/>
            <a:ext cx="67665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  <a:ea typeface="맑은 고딕"/>
              </a:rPr>
              <a:t>Figure 4. Combination index (CI) plot of the DOX+SOR combination.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706396" y="15492869"/>
            <a:ext cx="13936373" cy="3840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406400" indent="-406400">
              <a:spcAft>
                <a:spcPts val="800"/>
              </a:spcAft>
              <a:buChar char="•"/>
            </a:pPr>
            <a:r>
              <a:rPr sz="3200" b="0">
                <a:solidFill>
                  <a:srgbClr val="FFFFFF"/>
                </a:solidFill>
                <a:latin typeface="Calibri"/>
                <a:ea typeface="맑은 고딕"/>
              </a:rPr>
              <a:t>SOR, DOX, 병용군 모두 농도 증가에 따라 Fa가 증가하였다. Dm은 DOX 0.0196, SOR 0.277, 병용군 0.0774 µg/mL로 DOX가 SOR보다 약 14배 강력하였고, m은 DOX 0.36, SOR 1.16, r은 0.79–0.88이었다.</a:t>
            </a:r>
          </a:p>
          <a:p>
            <a:pPr marL="406400" indent="-406400">
              <a:spcAft>
                <a:spcPts val="800"/>
              </a:spcAft>
              <a:buChar char="•"/>
            </a:pPr>
            <a:r>
              <a:rPr sz="3200" b="0">
                <a:solidFill>
                  <a:srgbClr val="FFFFFF"/>
                </a:solidFill>
                <a:latin typeface="Calibri"/>
                <a:ea typeface="맑은 고딕"/>
              </a:rPr>
              <a:t>CI는 ED50에서 0.89로 경미한 synergism, ED75에서 1.01로 additive, ED90과 ED95에서 2.55와 5.49로 antagonism을 나타내었다. 최소 CI는 Fa 0.60에서 0.83이었고, 실측점의 CI는 0.28–18.6으로 넓게 분포하였다.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669820" y="18839573"/>
            <a:ext cx="6839712" cy="5078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fig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06396" y="18876149"/>
            <a:ext cx="6766560" cy="50054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5706396" y="23972989"/>
            <a:ext cx="67665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  <a:ea typeface="맑은 고딕"/>
              </a:rPr>
              <a:t>Figure 5. Normalized isobologram at ED50, ED75 and ED90.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564396" y="18839573"/>
            <a:ext cx="6839712" cy="5078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fig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00972" y="18876149"/>
            <a:ext cx="6766560" cy="50054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600972" y="23972989"/>
            <a:ext cx="67665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  <a:ea typeface="맑은 고딕"/>
              </a:rPr>
              <a:t>Figure 6. Dose reduction index (DRI) of SOR and DOX versus Fa.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706396" y="24933109"/>
            <a:ext cx="13936373" cy="3840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406400" indent="-406400">
              <a:spcAft>
                <a:spcPts val="800"/>
              </a:spcAft>
              <a:buChar char="•"/>
            </a:pPr>
            <a:r>
              <a:rPr sz="3200" b="0">
                <a:solidFill>
                  <a:srgbClr val="FFFFFF"/>
                </a:solidFill>
                <a:latin typeface="Calibri"/>
                <a:ea typeface="맑은 고딕"/>
              </a:rPr>
              <a:t>ED50 점은 additive line 아래에, ED75 점은 선 위에, ED90 점은 선에서 멀리 떨어진 위쪽에 위치하여 효과 수준이 높아질수록 synergism이 antagonism으로 전환되었다.</a:t>
            </a:r>
          </a:p>
          <a:p>
            <a:pPr marL="406400" indent="-406400">
              <a:spcAft>
                <a:spcPts val="800"/>
              </a:spcAft>
              <a:buChar char="•"/>
            </a:pPr>
            <a:r>
              <a:rPr sz="3200" b="0">
                <a:solidFill>
                  <a:srgbClr val="FFFFFF"/>
                </a:solidFill>
                <a:latin typeface="Calibri"/>
                <a:ea typeface="맑은 고딕"/>
              </a:rPr>
              <a:t>Fa 0.4–0.75에서 SOR와 DOX의 DRI가 모두 1을 초과하였고, ED50에서 SOR는 4.3배, DOX는 1.5배 용량 감소가 나타났다.</a:t>
            </a:r>
          </a:p>
        </p:txBody>
      </p:sp>
    </p:spTree>
    <p:extLst>
      <p:ext uri="{BB962C8B-B14F-4D97-AF65-F5344CB8AC3E}">
        <p14:creationId xmlns:p14="http://schemas.microsoft.com/office/powerpoint/2010/main" val="71089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6190</TotalTime>
  <Words>62</Words>
  <Application>Microsoft Office PowerPoint</Application>
  <PresentationFormat>사용자 지정</PresentationFormat>
  <Paragraphs>74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ＭＳ Ｐゴシック</vt:lpstr>
      <vt:lpstr>맑은 고딕</vt:lpstr>
      <vt:lpstr>Arial</vt:lpstr>
      <vt:lpstr>Calibri</vt:lpstr>
      <vt:lpstr>Office Theme</vt:lpstr>
      <vt:lpstr>PowerPoint 프레젠테이션</vt:lpstr>
    </vt:vector>
  </TitlesOfParts>
  <Company>IUPUI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OPD</dc:creator>
  <cp:lastModifiedBy>권용례(약학대학  교학지원팀)</cp:lastModifiedBy>
  <cp:revision>231</cp:revision>
  <cp:lastPrinted>2019-07-04T06:56:03Z</cp:lastPrinted>
  <dcterms:created xsi:type="dcterms:W3CDTF">2015-10-01T01:59:13Z</dcterms:created>
  <dcterms:modified xsi:type="dcterms:W3CDTF">2022-06-24T07:57:02Z</dcterms:modified>
</cp:coreProperties>
</file>